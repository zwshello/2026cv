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[小组名称]。今天我们汇报的项目是“基于YOLOv8的移动摄像头人流检测系统”。这个项目旨在利用先进的计算机视觉技术，解决在移动场景下对行人进行实时检测和计数的问题。接下来，我们将从研究现状、系统功能、核心算法等几个方面，为大家详细介绍我们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调研发现传统方法在摄像头移动时效果不佳，因此我们选择了YOLOv8模型。我们的系统不仅能支持多种数据源，实现实时检测和自动计数，还通过目标去重和追踪等优化功能，保证了计数的准确性和系统的稳定性。右图展示了系统运行时的实际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设计之初，我们明确了核心任务是在移动摄像头下精准检测和计数。为此，我们将问题拆解为处理动态视频、保证计数准确和确保CPU高效运行三个子任务。同时，我们定义了清晰的数据输入、处理和输出规范，确保系统逻辑的严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由五大核心算法协同工作。右侧的流程图清晰地展示了程序的执行过程：从输入数据开始，经过预处理、检测、去重、追踪、计数，最后将结果可视化输出。下方的这张图就是我们系统运行时的实际效果，可以看到，检测框、追踪ID和实时FPS都清晰可见，整个流程环环相扣，确保了系统的稳定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深入了解核心算法。左侧是主干算法，包括YOLOv8，负责快速检测，以及NMS，负责去除重复框。下方的代码截图展示了我们如何加载YOLO模型。右侧是辅助算法，包括多目标追踪、图像缩放和FPS计算。下方的运行截图直观地展示了这些算法的效果，包括检测框、追踪ID和实时FPS。这些算法共同构成了我们系统的技术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我们成功实现了一个功能完整、部署简单的移动摄像头人流检测系统。项目的亮点在于其轻量化设计、精准的计数能力和对移动场景的良好适应性。通过这个项目，我们不仅将课堂知识付诸实践，更深入理解了一个完整视觉项目的开发流程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D1CA-7DD6-F21E-FA76-CF04E0D6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22C87E-3454-B202-056A-40FA460FB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A6986-68E4-6A3F-C810-BA496468E8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B3F420-056A-FE75-9E36-78F21ECCA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5794E0-8699-908D-ADFD-77B42E124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BF96C-5441-3E95-2957-25B0CCE674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92A97-06FD-C657-D142-CCC9D2C20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672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0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144000" y="4064000"/>
            <a:ext cx="5080000" cy="508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81000" y="2540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基于YOLOv8的移动摄像头人流检测系统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3937000"/>
            <a:ext cx="1524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93698" y="4445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课程项目汇报 | 功能与算法解析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906">
            <a:off x="508004" y="5581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08000" y="5778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5331254">
            <a:off x="57785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223000" y="5778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程霄扬，曹殿卿，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柴鑫佳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研究现状与系统功能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EEEE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传统方案局限：适配性差，抗干扰弱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传统机器视觉方法（如背景差分法）仅适用于固定摄像头场景，对环境光照变化、背景复杂的情况鲁棒性差，难以应对实际应用中的动态干扰。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本项目方案：YOLOv8轻量级模型驱动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19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采用YOLOv8轻量级网络架构，在保证检测精度的同时大幅提升推理速度，完美适配移动摄像头的实时性需求，突破传统方法的场景限制。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524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546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核心技术痛点突破：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针对性解决画面抖动、人群遮挡、光照突变引发的误检与漏检问题，保障复杂场景下的计数准确性。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667500" y="2540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多源数据输入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兼容摄像头实时流、本地视频文件及静态图片，灵活适配不同采集场景需求。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207500" y="1778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0" y="1968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398000" y="2540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高精度实时检测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毫秒级响应速度，精准识别画面中的行人目标，自动生成检测框，定位准确无偏差。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77000" y="381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000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667500" y="4572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画面人数自动统计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实时分析检测目标，自动累加画面内行人数量，数据可视化展示，直观呈现统计结果。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207500" y="381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4000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398000" y="4572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全链路智能优化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集成目标去重、多目标追踪与系统性能监测机制，有效降低误报率，保障系统稳定运行。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477000" y="5778500"/>
            <a:ext cx="5334000" cy="6985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604000" y="59055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系统运行效果：检测框精准标注目标，实时人数动态更新，界面直观可控。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问题定义与数据采集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核心任务与问题拆解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实现移动摄像头动态画面下的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行人精准检测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实时人流计数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，在复杂动态场景中建立稳定的视觉分析基准。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4826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动态流处理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克服摄像头抖动、视角变化带来的图像模糊与帧间差异问题。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40000" y="4064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0500" y="425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667000" y="4826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计数准确性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解决遮挡、重叠等复杂情况，确保进出人数统计无错漏、无重复。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4064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4254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445000" y="4826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高效算力适配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优化算法模型，确保在普通CPU环境下也能实现低延迟、流畅的实时运行。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4064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/ 数据输入、目标与输出规范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540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273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2667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多源输入标准化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兼容摄像头实时流、本地视频文件或图片，统一预处理为640x640像素的RGB三通道图像，消除输入格式差异。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810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000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3937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聚焦单一核心类别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检测目标严格限定为“person（行人）”，过滤车辆、宠物等其他干扰物，确保算法专注度与识别精度。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5080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5270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5207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多维结果可视化输出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输出画面中的行人检测框、实时人数统计、处理帧率，同时生成结构化的人流数据报表供后续分析。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算法总览与整体运行流程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9812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19812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YOLOv8检测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5277">
            <a:off x="914423" y="2533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14400" y="2667000"/>
            <a:ext cx="172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系统核心算法，实现高精度、实时的多类别目标识别与定位，为后续处理提供基础数据。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177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048000" y="1778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0" y="1981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57600" y="19812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NMS去重优化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5277">
            <a:off x="3200423" y="2533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200400" y="2667000"/>
            <a:ext cx="172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通过非极大值抑制算法剔除冗余检测框，合并重叠区域，确保每个目标仅保留最优的检测结果。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177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334000" y="1778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0" y="19812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943600" y="19812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多目标追踪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5277">
            <a:off x="5486423" y="2533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486400" y="2667000"/>
            <a:ext cx="172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基于特征匹配与运动预测，为每个目标分配唯一ID，实现跨帧的持续跟踪与轨迹记录。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177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0" y="1778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0" y="19812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229600" y="19812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自适应缩放处理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5277">
            <a:off x="7772423" y="2533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772400" y="2667000"/>
            <a:ext cx="172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根据输入源分辨率动态调整图像尺寸，平衡检测精度与处理速度，适配不同硬件环境。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779000" y="177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779000" y="1778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1400" y="19812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0388600" y="19812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FPS性能监控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25277">
            <a:off x="9931423" y="2533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931400" y="2667000"/>
            <a:ext cx="172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实时计算并反馈系统处理帧率，通过算法优化确保在复杂场景下仍能维持流畅的实时输出。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62000" y="444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914400" y="4572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▍系统完整执行链路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8860">
            <a:off x="914408" y="50736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914400" y="5207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视频流接入 → 自适应预处理 → YOLOv8目标检测 → NMS去重筛选 → 多目标ID追踪 → 跨帧人数统计 → 可视化结果输出。全链路闭环设计，保障数据准确性与实时性。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86500" y="444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438900" y="4572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▍系统运行实时效果呈现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8860">
            <a:off x="6438908" y="50736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6438900" y="5207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界面同步展示检测框、目标追踪ID、实时FPS数值及累计人数统计，算法协同工作实现毫秒级响应，在复杂动态场景下依然保持稳定的识别与计数表现。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核心算法详细解析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43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 主干算法：YOLOv8 + NMS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选用 YOLOv8n 轻量模型，结合 C2f 主干与 PAN 特征融合，实现端侧快速精准检测。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利用 NMS 非极大值抑制剔除冗余框，解决重复检测，保留最优结果。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26198" b="26198"/>
          <a:stretch>
            <a:fillRect/>
          </a:stretch>
        </p:blipFill>
        <p:spPr>
          <a:xfrm>
            <a:off x="952500" y="3556000"/>
            <a:ext cx="4826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 rot="5388910">
            <a:off x="4254500" y="3740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1778000"/>
            <a:ext cx="5207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1943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 辅助算法：追踪与性能优化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67500" y="2540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基于中心点匹配的多目标追踪，为行人分配唯一ID，避免重复计数。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自适应缩放适配多设备，实时FPS监控确保程序≥20FPS稳定运行。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t="24120" b="24120"/>
          <a:stretch>
            <a:fillRect/>
          </a:stretch>
        </p:blipFill>
        <p:spPr>
          <a:xfrm>
            <a:off x="6667500" y="3556000"/>
            <a:ext cx="4826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62000" y="5842000"/>
            <a:ext cx="10922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5905500"/>
            <a:ext cx="1054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技术总结：以 YOLOv8 为核心检测引擎，NMS 消除冗余，结合多目标追踪与性能监控，构建高精度、高实时性的行人分析系统。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53156" cy="495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项目总结与亮点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753156" cy="111566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808" cy="111566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1651000"/>
            <a:ext cx="10177094" cy="867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本系统基于YOLOv8与OpenCV实现移动摄像头下的行人检测与人流计数，集成了</a:t>
            </a: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检测、追踪、计数、可视化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全套核心功能，代码结构轻量化，无需复杂配置即可快速部署，完美适配课堂教学与小型场景落地需求。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192" y="2357217"/>
            <a:ext cx="5248564" cy="1177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85192" y="2357217"/>
            <a:ext cx="51206" cy="117764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192" y="2547717"/>
            <a:ext cx="409644" cy="409644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74192" y="2458817"/>
            <a:ext cx="4096440" cy="99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轻量化设计，低门槛运行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选用YOLOv8-nano轻量级模型，摆脱对独立显卡的依赖，在普通CPU设备上即可实现实时检测与计数，部署成本极低。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107412" y="2339400"/>
            <a:ext cx="5248564" cy="1177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107412" y="2339400"/>
            <a:ext cx="51206" cy="117764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1412" y="2529900"/>
            <a:ext cx="409644" cy="409644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96412" y="2441000"/>
            <a:ext cx="4096440" cy="99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算法优化，计数精准可靠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结合NMS非极大值抑制与多目标追踪算法，有效过滤重复框选，规避因行人快速移动或重叠造成的误计、重计问题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85192" y="3754217"/>
            <a:ext cx="5248564" cy="1177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5192" y="3754217"/>
            <a:ext cx="51206" cy="117764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192" y="3944717"/>
            <a:ext cx="409644" cy="409644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74192" y="3855817"/>
            <a:ext cx="4096440" cy="99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抗干扰强，适配移动场景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针对移动摄像头的画面抖动、行人轻微遮挡等实际问题优化处理逻辑，在非受控的动态拍摄场景下仍保持稳定的检测效果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85192" y="5207000"/>
            <a:ext cx="5248564" cy="1177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85192" y="5207000"/>
            <a:ext cx="51206" cy="117764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192" y="5397500"/>
            <a:ext cx="409644" cy="409644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74192" y="5308600"/>
            <a:ext cx="4096440" cy="99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模块化拆分，贴合教学逻辑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将复杂的视觉算法拆分为输入、预处理、检测、追踪、计数、输出等独立模块，代码流程清晰，完美匹配课堂知识点的讲解顺序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0651A36-938F-EA08-9080-E04806205A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148" y="3698551"/>
            <a:ext cx="6230677" cy="3016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DA081-F576-806D-FCD7-4FE72A99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DFCBA67-13CD-6392-C042-292941645B17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成员分工</a:t>
            </a:r>
            <a:endParaRPr lang="en-US" sz="1100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4B78FA47-AA88-6510-35D9-478A0A1CE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713786"/>
              </p:ext>
            </p:extLst>
          </p:nvPr>
        </p:nvGraphicFramePr>
        <p:xfrm>
          <a:off x="1857187" y="1849095"/>
          <a:ext cx="8261724" cy="31598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53908">
                  <a:extLst>
                    <a:ext uri="{9D8B030D-6E8A-4147-A177-3AD203B41FA5}">
                      <a16:colId xmlns:a16="http://schemas.microsoft.com/office/drawing/2014/main" val="3685927559"/>
                    </a:ext>
                  </a:extLst>
                </a:gridCol>
                <a:gridCol w="2753908">
                  <a:extLst>
                    <a:ext uri="{9D8B030D-6E8A-4147-A177-3AD203B41FA5}">
                      <a16:colId xmlns:a16="http://schemas.microsoft.com/office/drawing/2014/main" val="259038790"/>
                    </a:ext>
                  </a:extLst>
                </a:gridCol>
                <a:gridCol w="2753908">
                  <a:extLst>
                    <a:ext uri="{9D8B030D-6E8A-4147-A177-3AD203B41FA5}">
                      <a16:colId xmlns:a16="http://schemas.microsoft.com/office/drawing/2014/main" val="3807183555"/>
                    </a:ext>
                  </a:extLst>
                </a:gridCol>
              </a:tblGrid>
              <a:tr h="1285969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曹殿卿</a:t>
                      </a:r>
                      <a:r>
                        <a:rPr lang="en-US" altLang="zh-CN" sz="3200" dirty="0"/>
                        <a:t>-1231001004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柴鑫佳</a:t>
                      </a:r>
                      <a:r>
                        <a:rPr lang="en-US" altLang="zh-CN" sz="3200" dirty="0"/>
                        <a:t>-1231001005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程霄扬</a:t>
                      </a:r>
                      <a:r>
                        <a:rPr lang="en-US" altLang="zh-CN" sz="3200" dirty="0"/>
                        <a:t>-1231001006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570648"/>
                  </a:ext>
                </a:extLst>
              </a:tr>
              <a:tr h="1873841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报告及</a:t>
                      </a:r>
                      <a:r>
                        <a:rPr lang="en-US" altLang="zh-CN" sz="3200" dirty="0"/>
                        <a:t>PPT</a:t>
                      </a:r>
                      <a:r>
                        <a:rPr lang="zh-CN" altLang="en-US" sz="3200" dirty="0"/>
                        <a:t>撰写，总体进度把控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前期汇报准备，代码优化，资料收集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主体代码编写，最终答辩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622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90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607</Words>
  <Application>Microsoft Office PowerPoint</Application>
  <PresentationFormat>宽屏</PresentationFormat>
  <Paragraphs>88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give2me@163.com</cp:lastModifiedBy>
  <cp:revision>6</cp:revision>
  <dcterms:modified xsi:type="dcterms:W3CDTF">2026-06-29T02:29:23Z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{"Label":"1","ContentProducer":"001191110102MACQD9K64010000","ProduceID":"7648660951432481723","ReservedCode1":"","ContentPropagator":"","PropagateID":"","ReservedCode2":""}</vt:lpwstr>
  </property>
</Properties>
</file>