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457200" y="0"/>
            <a:ext cx="3200400" cy="6858000"/>
          </a:xfrm>
          <a:prstGeom prst="roundRect">
            <a:avLst/>
          </a:prstGeom>
          <a:solidFill>
            <a:srgbClr val="0096D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601200" cy="1097280"/>
          </a:xfrm>
          <a:prstGeom prst="roundRect">
            <a:avLst/>
          </a:prstGeom>
          <a:solidFill>
            <a:srgbClr val="121727"/>
          </a:solidFill>
          <a:ln w="12700">
            <a:solidFill>
              <a:srgbClr val="121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/>
              <a:t>低空目标识别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0" y="2320414"/>
            <a:ext cx="84164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BBBBBB"/>
                </a:solidFill>
              </a:defRPr>
            </a:pPr>
            <a:r>
              <a:rPr sz="2800" b="1" dirty="0" err="1"/>
              <a:t>基于</a:t>
            </a:r>
            <a:r>
              <a:rPr sz="2800" b="1" dirty="0"/>
              <a:t> PX4 + Gazebo Harmonic + ROS 2 </a:t>
            </a:r>
            <a:r>
              <a:rPr sz="2800" b="1" dirty="0" err="1"/>
              <a:t>的无人机视觉感知仿真验证平台</a:t>
            </a:r>
            <a:endParaRPr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178040" y="5029200"/>
            <a:ext cx="470916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课程：2026CV </a:t>
            </a:r>
            <a:r>
              <a:rPr dirty="0" err="1"/>
              <a:t>计算机视觉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BBBBBB"/>
                </a:solidFill>
              </a:defRPr>
            </a:pPr>
            <a:r>
              <a:rPr dirty="0" err="1"/>
              <a:t>组号：Group</a:t>
            </a:r>
            <a:r>
              <a:rPr dirty="0"/>
              <a:t> 05      </a:t>
            </a:r>
            <a:r>
              <a:rPr dirty="0" err="1"/>
              <a:t>成员：李彦博</a:t>
            </a:r>
            <a:r>
              <a:rPr dirty="0"/>
              <a:t>  1231002006</a:t>
            </a:r>
          </a:p>
          <a:p>
            <a:pPr>
              <a:spcAft>
                <a:spcPts val="400"/>
              </a:spcAft>
              <a:defRPr sz="1800">
                <a:solidFill>
                  <a:srgbClr val="BBBBBB"/>
                </a:solidFill>
              </a:defRPr>
            </a:pPr>
            <a:r>
              <a:rPr dirty="0"/>
              <a:t>日期：2026 年 6 月</a:t>
            </a:r>
            <a:r>
              <a:rPr lang="en-US" dirty="0"/>
              <a:t> 22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汇报目录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40080" cy="411480"/>
          </a:xfrm>
          <a:prstGeom prst="roundRect">
            <a:avLst/>
          </a:prstGeom>
          <a:solidFill>
            <a:srgbClr val="0096D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09344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选题背景与研究现状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84831"/>
            <a:ext cx="640080" cy="411480"/>
          </a:xfrm>
          <a:prstGeom prst="roundRect">
            <a:avLst/>
          </a:prstGeom>
          <a:solidFill>
            <a:srgbClr val="00B88D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39696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问题定义与评价指标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15184"/>
            <a:ext cx="640080" cy="411480"/>
          </a:xfrm>
          <a:prstGeom prst="roundRect">
            <a:avLst/>
          </a:prstGeom>
          <a:solidFill>
            <a:srgbClr val="8E6FC4"/>
          </a:solidFill>
          <a:ln w="12700">
            <a:solidFill>
              <a:srgbClr val="8E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仿真场景搭建与数据采集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45535"/>
            <a:ext cx="640080" cy="411480"/>
          </a:xfrm>
          <a:prstGeom prst="roundRect">
            <a:avLst/>
          </a:prstGeom>
          <a:solidFill>
            <a:srgbClr val="FF8C0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00399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算法模块 — YOLOv8 目标检测 + 代码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75887"/>
            <a:ext cx="640080" cy="411480"/>
          </a:xfrm>
          <a:prstGeom prst="roundRect">
            <a:avLst/>
          </a:prstGeom>
          <a:solidFill>
            <a:srgbClr val="00C853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30751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原型系统架构（可视化）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640080" cy="411480"/>
          </a:xfrm>
          <a:prstGeom prst="roundRect">
            <a:avLst/>
          </a:prstGeom>
          <a:solidFill>
            <a:srgbClr val="FF4D4D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61103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实验结果与分析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36592"/>
            <a:ext cx="640080" cy="41148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91455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关键问题与解决方案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66944"/>
            <a:ext cx="640080" cy="411480"/>
          </a:xfrm>
          <a:prstGeom prst="roundRect">
            <a:avLst/>
          </a:prstGeom>
          <a:solidFill>
            <a:srgbClr val="4EC9B0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321807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组员分工与贡献说明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97296"/>
            <a:ext cx="640080" cy="411480"/>
          </a:xfrm>
          <a:prstGeom prst="roundRect">
            <a:avLst/>
          </a:prstGeom>
          <a:solidFill>
            <a:srgbClr val="55AAFF"/>
          </a:solidFill>
          <a:ln w="12700">
            <a:solidFill>
              <a:srgbClr val="55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852159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01  选题背景与研究现状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 err="1"/>
              <a:t>低空经济与无人机视觉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低空经济是国家战略性新兴产业，无人机是核心载体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无人机在物流、巡检、安防等场景中需具备自主环境感知能力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低空场景下目标具有「远距离、小尺度、快速运动」的特点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 err="1"/>
              <a:t>目标检测技术现状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YOLO 系列（v5 → v11）：</a:t>
            </a:r>
            <a:r>
              <a:rPr dirty="0" err="1"/>
              <a:t>实时性与精度的持续突破，工程落地首选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Transformer </a:t>
            </a:r>
            <a:r>
              <a:rPr dirty="0" err="1"/>
              <a:t>检测器（DETR</a:t>
            </a:r>
            <a:r>
              <a:rPr dirty="0"/>
              <a:t> / DINO）：</a:t>
            </a:r>
            <a:r>
              <a:rPr dirty="0" err="1"/>
              <a:t>精度领先但推理速度较慢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无人机视角检测：VisDrone</a:t>
            </a:r>
            <a:r>
              <a:rPr dirty="0"/>
              <a:t> </a:t>
            </a:r>
            <a:r>
              <a:rPr dirty="0" err="1"/>
              <a:t>挑战赛推动小目标检测研究发展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 err="1"/>
              <a:t>本项目定位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不单独追求算法</a:t>
            </a:r>
            <a:r>
              <a:rPr dirty="0"/>
              <a:t> </a:t>
            </a:r>
            <a:r>
              <a:rPr dirty="0" err="1"/>
              <a:t>SOTA，构建完整的「仿真</a:t>
            </a:r>
            <a:r>
              <a:rPr dirty="0"/>
              <a:t> → </a:t>
            </a:r>
            <a:r>
              <a:rPr dirty="0" err="1"/>
              <a:t>感知」闭环验证平台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技术栈：PX4 SITL + Gazebo Harmonic + ROS 2 Jazzy + YOLOv8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02  问题定义与评价指标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 err="1"/>
              <a:t>核心问题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 err="1"/>
              <a:t>在无人机低空飞行视角下，对地面</a:t>
            </a:r>
            <a:r>
              <a:rPr dirty="0"/>
              <a:t>/</a:t>
            </a:r>
            <a:r>
              <a:rPr dirty="0" err="1"/>
              <a:t>低空目标（车辆、行人、船只等）实现实时检测与识别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 err="1"/>
              <a:t>关键挑战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目标像素占比小</a:t>
            </a:r>
            <a:r>
              <a:rPr dirty="0"/>
              <a:t>（&lt; 1% </a:t>
            </a:r>
            <a:r>
              <a:rPr dirty="0" err="1"/>
              <a:t>图像面积</a:t>
            </a:r>
            <a:r>
              <a:rPr dirty="0"/>
              <a:t>），</a:t>
            </a:r>
            <a:r>
              <a:rPr dirty="0" err="1"/>
              <a:t>传统检测器易漏检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无人机运动导致图像模糊与视角快速变化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仿真</a:t>
            </a:r>
            <a:r>
              <a:rPr dirty="0"/>
              <a:t> → </a:t>
            </a:r>
            <a:r>
              <a:rPr dirty="0" err="1"/>
              <a:t>真实场景的域迁移（Sim-to-Real</a:t>
            </a:r>
            <a:r>
              <a:rPr dirty="0"/>
              <a:t> Gap）</a:t>
            </a:r>
            <a:endParaRPr lang="en-US"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 err="1"/>
              <a:t>评价指标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162273"/>
              </p:ext>
            </p:extLst>
          </p:nvPr>
        </p:nvGraphicFramePr>
        <p:xfrm>
          <a:off x="640080" y="4481396"/>
          <a:ext cx="112471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指标</a:t>
                      </a:r>
                      <a:endParaRPr dirty="0"/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mAP@0.5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IoU=0.5 时的平均精度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≥ 60%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mAP@0.5:0.95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IoU 0.5~0.95 平均精度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≥ 40%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推理帧率 (FPS)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每秒处理帧数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≥ 5 FPS (CPU)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推理延迟 P50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50% 请求的延迟上限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&lt; 50 ms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推理延迟 P95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95% 请求的延迟上限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&lt; 150 </a:t>
                      </a:r>
                      <a:r>
                        <a:rPr dirty="0" err="1"/>
                        <a:t>ms</a:t>
                      </a:r>
                      <a:endParaRPr dirty="0"/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03  仿真场景搭建与数据采集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 err="1"/>
              <a:t>仿真环境：Gazebo</a:t>
            </a:r>
            <a:r>
              <a:rPr dirty="0"/>
              <a:t> Harmonic + baylands_2026cv </a:t>
            </a:r>
            <a:r>
              <a:rPr dirty="0" err="1"/>
              <a:t>自定义世界</a:t>
            </a: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/>
              <a:t>  6 </a:t>
            </a:r>
            <a:r>
              <a:rPr dirty="0" err="1"/>
              <a:t>辆巡逻车</a:t>
            </a:r>
            <a:r>
              <a:rPr dirty="0"/>
              <a:t> + 8 </a:t>
            </a:r>
            <a:r>
              <a:rPr dirty="0" err="1"/>
              <a:t>名行人（SDF</a:t>
            </a:r>
            <a:r>
              <a:rPr dirty="0"/>
              <a:t> </a:t>
            </a:r>
            <a:r>
              <a:rPr dirty="0" err="1"/>
              <a:t>持久化</a:t>
            </a:r>
            <a:r>
              <a:rPr dirty="0"/>
              <a:t>）| 3 辆车自动来回巡逻（animate_vehicles.py）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 err="1"/>
              <a:t>相机配置：自定义</a:t>
            </a:r>
            <a:r>
              <a:rPr dirty="0"/>
              <a:t> gimbal </a:t>
            </a:r>
            <a:r>
              <a:rPr dirty="0" err="1"/>
              <a:t>相机模型</a:t>
            </a:r>
            <a:r>
              <a:rPr dirty="0"/>
              <a:t> | 640×360 @ 10 Hz | </a:t>
            </a:r>
            <a:r>
              <a:rPr dirty="0" err="1"/>
              <a:t>ros_gz_image</a:t>
            </a:r>
            <a:r>
              <a:rPr dirty="0"/>
              <a:t> </a:t>
            </a:r>
            <a:r>
              <a:rPr dirty="0" err="1"/>
              <a:t>桥接至</a:t>
            </a:r>
            <a:r>
              <a:rPr dirty="0"/>
              <a:t> ROS 2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rPr dirty="0" err="1"/>
              <a:t>目标类别与分布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679788"/>
              </p:ext>
            </p:extLst>
          </p:nvPr>
        </p:nvGraphicFramePr>
        <p:xfrm>
          <a:off x="432619" y="3574420"/>
          <a:ext cx="11247120" cy="1820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684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目标类别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模型来源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数量</a:t>
                      </a:r>
                      <a:r>
                        <a:rPr dirty="0"/>
                        <a:t>/次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采样区域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AABB </a:t>
                      </a:r>
                      <a:r>
                        <a:rPr dirty="0" err="1"/>
                        <a:t>尺寸</a:t>
                      </a:r>
                      <a:r>
                        <a:rPr dirty="0"/>
                        <a:t> (m)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84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car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Fuel 模型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2-4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baylands 道路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4.5×2.0×1.8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84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person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Actor </a:t>
                      </a:r>
                      <a:r>
                        <a:rPr dirty="0" err="1"/>
                        <a:t>模型</a:t>
                      </a:r>
                      <a:endParaRPr dirty="0"/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3-5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人行区域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0.6×0.6×1.8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</a:defRPr>
            </a:pPr>
            <a:r>
              <a:rPr dirty="0"/>
              <a:t>spawn_targets.py </a:t>
            </a:r>
            <a:r>
              <a:rPr dirty="0" err="1"/>
              <a:t>随机放置</a:t>
            </a:r>
            <a:r>
              <a:rPr dirty="0"/>
              <a:t> → dataset_collector.py </a:t>
            </a:r>
            <a:r>
              <a:rPr dirty="0" err="1"/>
              <a:t>触发截图</a:t>
            </a:r>
            <a:r>
              <a:rPr dirty="0"/>
              <a:t> → </a:t>
            </a:r>
            <a:r>
              <a:rPr dirty="0" err="1"/>
              <a:t>自动标注存储</a:t>
            </a:r>
            <a:r>
              <a:rPr dirty="0"/>
              <a:t> → YOLO </a:t>
            </a:r>
            <a:r>
              <a:rPr dirty="0" err="1"/>
              <a:t>格式数据集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04  算法模块 — YOLOv8 目标检测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97279"/>
            <a:ext cx="10698480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rPr dirty="0" err="1"/>
              <a:t>模型选型：推理</a:t>
            </a:r>
            <a:r>
              <a:rPr dirty="0"/>
              <a:t> yolov8n.pt (6.2MB) / </a:t>
            </a:r>
            <a:r>
              <a:rPr dirty="0" err="1"/>
              <a:t>微调</a:t>
            </a:r>
            <a:r>
              <a:rPr dirty="0"/>
              <a:t> yolov8s.pt     </a:t>
            </a:r>
            <a:r>
              <a:rPr lang="zh-CN" altLang="en-US" dirty="0"/>
              <a:t>▎</a:t>
            </a:r>
            <a:r>
              <a:rPr dirty="0" err="1"/>
              <a:t>设备：Linux</a:t>
            </a:r>
            <a:r>
              <a:rPr dirty="0"/>
              <a:t> CPU </a:t>
            </a:r>
            <a:r>
              <a:rPr dirty="0" err="1"/>
              <a:t>推理</a:t>
            </a:r>
            <a:r>
              <a:rPr dirty="0"/>
              <a:t> / Windows RTX 4050 </a:t>
            </a:r>
            <a:r>
              <a:rPr dirty="0" err="1"/>
              <a:t>训练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ROS 2 </a:t>
            </a:r>
            <a:r>
              <a:rPr dirty="0" err="1"/>
              <a:t>推理节点核心代码</a:t>
            </a:r>
            <a:r>
              <a:rPr dirty="0"/>
              <a:t> — yolo_detector.py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84832"/>
            <a:ext cx="5486400" cy="4453128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649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Consolas"/>
              </a:defRPr>
            </a:pPr>
            <a:r>
              <a:rPr sz="2000" b="1" dirty="0"/>
              <a:t>  yolo_detector.py — </a:t>
            </a:r>
            <a:r>
              <a:rPr sz="2000" b="1" dirty="0" err="1"/>
              <a:t>核心推理回调</a:t>
            </a:r>
            <a:endParaRPr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54091" y="2546604"/>
            <a:ext cx="5019122" cy="4737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YoloDetector</a:t>
            </a:r>
            <a:r>
              <a:rPr dirty="0"/>
              <a:t>(Node):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"""ROS 2 YOLOv8 </a:t>
            </a:r>
            <a:r>
              <a:rPr dirty="0" err="1"/>
              <a:t>目标检测节点</a:t>
            </a:r>
            <a:r>
              <a:rPr dirty="0"/>
              <a:t>"""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def _</a:t>
            </a:r>
            <a:r>
              <a:rPr dirty="0" err="1"/>
              <a:t>image_callback</a:t>
            </a:r>
            <a:r>
              <a:rPr dirty="0"/>
              <a:t>(self, msg: Image) -&gt; None: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self._</a:t>
            </a:r>
            <a:r>
              <a:rPr dirty="0" err="1"/>
              <a:t>metrics.mark_input</a:t>
            </a:r>
            <a:r>
              <a:rPr dirty="0"/>
              <a:t>()           # </a:t>
            </a:r>
            <a:r>
              <a:rPr dirty="0" err="1"/>
              <a:t>输入帧计数</a:t>
            </a: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frame = </a:t>
            </a:r>
            <a:r>
              <a:rPr dirty="0" err="1"/>
              <a:t>image_message_to_rgb</a:t>
            </a:r>
            <a:r>
              <a:rPr dirty="0"/>
              <a:t>(msg)    # ROS Image → NumPy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# YOLO </a:t>
            </a:r>
            <a:r>
              <a:rPr dirty="0" err="1"/>
              <a:t>推理（GPU</a:t>
            </a:r>
            <a:r>
              <a:rPr dirty="0"/>
              <a:t>/CPU </a:t>
            </a:r>
            <a:r>
              <a:rPr dirty="0" err="1"/>
              <a:t>自适应</a:t>
            </a:r>
            <a:r>
              <a:rPr dirty="0"/>
              <a:t>）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result = self._</a:t>
            </a:r>
            <a:r>
              <a:rPr dirty="0" err="1"/>
              <a:t>model.predict</a:t>
            </a:r>
            <a:r>
              <a:rPr dirty="0"/>
              <a:t>(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source=</a:t>
            </a:r>
            <a:r>
              <a:rPr dirty="0" err="1"/>
              <a:t>frame.rgb</a:t>
            </a:r>
            <a:r>
              <a:rPr dirty="0"/>
              <a:t>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conf=</a:t>
            </a:r>
            <a:r>
              <a:rPr dirty="0" err="1"/>
              <a:t>self._confidence</a:t>
            </a:r>
            <a:r>
              <a:rPr dirty="0"/>
              <a:t>,           # 0.15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device=</a:t>
            </a:r>
            <a:r>
              <a:rPr dirty="0" err="1"/>
              <a:t>self._device</a:t>
            </a:r>
            <a:r>
              <a:rPr dirty="0"/>
              <a:t> or None,     # </a:t>
            </a:r>
            <a:r>
              <a:rPr dirty="0" err="1"/>
              <a:t>cpu</a:t>
            </a:r>
            <a:r>
              <a:rPr dirty="0"/>
              <a:t> / cuda:0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imgsz</a:t>
            </a:r>
            <a:r>
              <a:rPr dirty="0"/>
              <a:t>=self._</a:t>
            </a:r>
            <a:r>
              <a:rPr dirty="0" err="1"/>
              <a:t>imgsz</a:t>
            </a:r>
            <a:r>
              <a:rPr dirty="0"/>
              <a:t>,               # 480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verbose=False,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)[0]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# </a:t>
            </a:r>
            <a:r>
              <a:rPr dirty="0" err="1"/>
              <a:t>渲染</a:t>
            </a:r>
            <a:r>
              <a:rPr dirty="0"/>
              <a:t> HUD </a:t>
            </a:r>
            <a:r>
              <a:rPr dirty="0" err="1"/>
              <a:t>标注</a:t>
            </a:r>
            <a:r>
              <a:rPr dirty="0"/>
              <a:t> + </a:t>
            </a:r>
            <a:r>
              <a:rPr dirty="0" err="1"/>
              <a:t>发布</a:t>
            </a:r>
            <a:r>
              <a:rPr dirty="0"/>
              <a:t> /camera/annotated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annotated = </a:t>
            </a:r>
            <a:r>
              <a:rPr dirty="0" err="1"/>
              <a:t>render_annotated_rgb</a:t>
            </a:r>
            <a:r>
              <a:rPr dirty="0"/>
              <a:t>(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frame.rgb</a:t>
            </a:r>
            <a:r>
              <a:rPr dirty="0"/>
              <a:t>, </a:t>
            </a:r>
            <a:r>
              <a:rPr dirty="0" err="1"/>
              <a:t>result.boxes</a:t>
            </a:r>
            <a:r>
              <a:rPr dirty="0"/>
              <a:t>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metrics=</a:t>
            </a:r>
            <a:r>
              <a:rPr dirty="0" err="1"/>
              <a:t>self._metrics</a:t>
            </a:r>
            <a:r>
              <a:rPr dirty="0"/>
              <a:t>,           # FPS/</a:t>
            </a:r>
            <a:r>
              <a:rPr dirty="0" err="1"/>
              <a:t>延迟</a:t>
            </a: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model_ready</a:t>
            </a:r>
            <a:r>
              <a:rPr dirty="0"/>
              <a:t>=True, font=</a:t>
            </a:r>
            <a:r>
              <a:rPr dirty="0" err="1"/>
              <a:t>self._font</a:t>
            </a:r>
            <a:r>
              <a:rPr dirty="0"/>
              <a:t>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)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self._</a:t>
            </a:r>
            <a:r>
              <a:rPr dirty="0" err="1"/>
              <a:t>publish_annotated_image</a:t>
            </a:r>
            <a:r>
              <a:rPr dirty="0"/>
              <a:t>(annotated, msg)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# </a:t>
            </a:r>
            <a:r>
              <a:rPr dirty="0" err="1"/>
              <a:t>检测结果</a:t>
            </a:r>
            <a:r>
              <a:rPr dirty="0"/>
              <a:t> JSON </a:t>
            </a:r>
            <a:r>
              <a:rPr dirty="0" err="1"/>
              <a:t>存档</a:t>
            </a:r>
            <a:r>
              <a:rPr dirty="0"/>
              <a:t> -&gt; </a:t>
            </a:r>
            <a:r>
              <a:rPr dirty="0" err="1"/>
              <a:t>detections.jsonl</a:t>
            </a: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self._</a:t>
            </a:r>
            <a:r>
              <a:rPr dirty="0" err="1"/>
              <a:t>results.record</a:t>
            </a:r>
            <a:r>
              <a:rPr dirty="0"/>
              <a:t>(frame, result, </a:t>
            </a:r>
            <a:r>
              <a:rPr dirty="0" err="1"/>
              <a:t>latency_ms</a:t>
            </a:r>
            <a:r>
              <a:rPr dirty="0"/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84832"/>
            <a:ext cx="5486400" cy="4453128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15778" y="2180907"/>
            <a:ext cx="24288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Consolas"/>
              </a:defRPr>
            </a:pPr>
            <a:r>
              <a:rPr sz="2000" dirty="0"/>
              <a:t>  </a:t>
            </a:r>
            <a:r>
              <a:rPr sz="2000" dirty="0" err="1"/>
              <a:t>训练</a:t>
            </a:r>
            <a:r>
              <a:rPr sz="2000" dirty="0"/>
              <a:t> &amp; </a:t>
            </a:r>
            <a:r>
              <a:rPr sz="2000" dirty="0" err="1"/>
              <a:t>部署命令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6355080" y="2574532"/>
            <a:ext cx="51206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Windows RTX 4050 </a:t>
            </a:r>
            <a:r>
              <a:rPr dirty="0" err="1"/>
              <a:t>训练入口</a:t>
            </a: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python vision/train_sim.py \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--data dataset/sim_v1/</a:t>
            </a:r>
            <a:r>
              <a:rPr dirty="0" err="1"/>
              <a:t>dataset.yaml</a:t>
            </a:r>
            <a:r>
              <a:rPr dirty="0"/>
              <a:t> \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--model yolov8s.pt \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--</a:t>
            </a:r>
            <a:r>
              <a:rPr dirty="0" err="1"/>
              <a:t>imgsz</a:t>
            </a:r>
            <a:r>
              <a:rPr dirty="0"/>
              <a:t> 640 --epochs 50 --batch 16 \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--device 0 --mosaic 1.0 --</a:t>
            </a:r>
            <a:r>
              <a:rPr dirty="0" err="1"/>
              <a:t>mixup</a:t>
            </a:r>
            <a:r>
              <a:rPr dirty="0"/>
              <a:t> 0.1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训练参数</a:t>
            </a: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优化器</a:t>
            </a:r>
            <a:r>
              <a:rPr dirty="0"/>
              <a:t>: </a:t>
            </a:r>
            <a:r>
              <a:rPr dirty="0" err="1"/>
              <a:t>AdamW</a:t>
            </a:r>
            <a:r>
              <a:rPr dirty="0"/>
              <a:t>  </a:t>
            </a:r>
            <a:r>
              <a:rPr dirty="0" err="1"/>
              <a:t>lr</a:t>
            </a:r>
            <a:r>
              <a:rPr dirty="0"/>
              <a:t>=0.001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AMP </a:t>
            </a:r>
            <a:r>
              <a:rPr dirty="0" err="1"/>
              <a:t>混合精度</a:t>
            </a:r>
            <a:r>
              <a:rPr dirty="0"/>
              <a:t>: </a:t>
            </a:r>
            <a:r>
              <a:rPr dirty="0" err="1"/>
              <a:t>开启</a:t>
            </a:r>
            <a:r>
              <a:rPr dirty="0"/>
              <a:t> (~5 GB VRAM)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早停</a:t>
            </a:r>
            <a:r>
              <a:rPr dirty="0"/>
              <a:t> patience: 15 epochs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输出</a:t>
            </a:r>
            <a:r>
              <a:rPr dirty="0"/>
              <a:t>: runs/sim/v1/weights/best.pt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推理部署（Linux</a:t>
            </a:r>
            <a:r>
              <a:rPr dirty="0"/>
              <a:t> 侧）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ros2 launch </a:t>
            </a:r>
            <a:r>
              <a:rPr dirty="0" err="1"/>
              <a:t>low_altitude_bringup</a:t>
            </a:r>
            <a:r>
              <a:rPr dirty="0"/>
              <a:t> \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perception_yolo.launch.py \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model_path</a:t>
            </a:r>
            <a:r>
              <a:rPr dirty="0"/>
              <a:t>:=ros2_ws/best.pt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性能指标实时监控</a:t>
            </a: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滚动窗口</a:t>
            </a:r>
            <a:r>
              <a:rPr dirty="0"/>
              <a:t> FPS | P50/P95 </a:t>
            </a:r>
            <a:r>
              <a:rPr dirty="0" err="1"/>
              <a:t>延迟</a:t>
            </a: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per-class </a:t>
            </a:r>
            <a:r>
              <a:rPr dirty="0" err="1"/>
              <a:t>检测计数</a:t>
            </a:r>
            <a:r>
              <a:rPr dirty="0"/>
              <a:t> | rich </a:t>
            </a:r>
            <a:r>
              <a:rPr dirty="0" err="1"/>
              <a:t>仪表盘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05  原型系统架构 — 端到端流水线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594360"/>
          </a:xfrm>
          <a:prstGeom prst="roundRect">
            <a:avLst/>
          </a:prstGeom>
          <a:solidFill>
            <a:srgbClr val="0096D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Gazebo Harmonic</a:t>
            </a:r>
            <a:br/>
            <a:r>
              <a:t>baylands_2026cv 仿真世界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554480"/>
            <a:ext cx="2377440" cy="594360"/>
          </a:xfrm>
          <a:prstGeom prst="roundRect">
            <a:avLst/>
          </a:prstGeom>
          <a:solidFill>
            <a:srgbClr val="00B88D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x500 无人机模型</a:t>
            </a:r>
            <a:br/>
            <a:r>
              <a:t>自定义 gimbal 相机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554480"/>
            <a:ext cx="2286000" cy="594360"/>
          </a:xfrm>
          <a:prstGeom prst="roundRect">
            <a:avLst/>
          </a:prstGeom>
          <a:solidFill>
            <a:srgbClr val="8E6FC4"/>
          </a:solidFill>
          <a:ln w="12700">
            <a:solidFill>
              <a:srgbClr val="8E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PX4 SITL v1.16.0</a:t>
            </a:r>
            <a:br/>
            <a:r>
              <a:t>飞控仿真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554480"/>
            <a:ext cx="1828800" cy="594360"/>
          </a:xfrm>
          <a:prstGeom prst="roundRect">
            <a:avLst/>
          </a:prstGeom>
          <a:solidFill>
            <a:srgbClr val="FF8C0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QGroundControl</a:t>
            </a:r>
            <a:br/>
            <a:r>
              <a:t>地面站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2743200" cy="594360"/>
          </a:xfrm>
          <a:prstGeom prst="roundRect">
            <a:avLst/>
          </a:prstGeom>
          <a:solidFill>
            <a:srgbClr val="00C853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ROS 2 Jazzy</a:t>
            </a:r>
            <a:br/>
            <a:r>
              <a:t>ros_gz_bridge 桥接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926080"/>
            <a:ext cx="2377440" cy="594360"/>
          </a:xfrm>
          <a:prstGeom prst="roundRect">
            <a:avLst/>
          </a:prstGeom>
          <a:solidFill>
            <a:srgbClr val="555577"/>
          </a:solidFill>
          <a:ln w="12700">
            <a:solidFill>
              <a:srgbClr val="55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image_throttle</a:t>
            </a:r>
            <a:br/>
            <a:r>
              <a:t>5 Hz 有界缓冲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926080"/>
            <a:ext cx="2743200" cy="594360"/>
          </a:xfrm>
          <a:prstGeom prst="roundRect">
            <a:avLst/>
          </a:prstGeom>
          <a:solidFill>
            <a:srgbClr val="FF8C0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YOLOv8 检测节点</a:t>
            </a:r>
            <a:br/>
            <a:r>
              <a:t>yolo_detector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3200400" cy="640080"/>
          </a:xfrm>
          <a:prstGeom prst="roundRect">
            <a:avLst/>
          </a:prstGeom>
          <a:solidFill>
            <a:srgbClr val="00C853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/detections/yolo</a:t>
            </a:r>
            <a:br/>
            <a:r>
              <a:t>检测结果话题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297680"/>
            <a:ext cx="3200400" cy="640080"/>
          </a:xfrm>
          <a:prstGeom prst="roundRect">
            <a:avLst/>
          </a:prstGeom>
          <a:solidFill>
            <a:srgbClr val="0096D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/camera/annotated</a:t>
            </a:r>
            <a:br/>
            <a:r>
              <a:t>HUD 标注画面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4297680"/>
            <a:ext cx="3017520" cy="640080"/>
          </a:xfrm>
          <a:prstGeom prst="roundRect">
            <a:avLst/>
          </a:prstGeom>
          <a:solidFill>
            <a:srgbClr val="FF4D4D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detections.jsonl</a:t>
            </a:r>
            <a:br/>
            <a:r>
              <a:t>检测结果存档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874520" y="2240280"/>
            <a:ext cx="274320" cy="32004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4892040" y="2240280"/>
            <a:ext cx="274320" cy="32004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7772400" y="2240280"/>
            <a:ext cx="274320" cy="32004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10378440" y="2240280"/>
            <a:ext cx="274320" cy="32004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2606040" y="3611880"/>
            <a:ext cx="274320" cy="32004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5806440" y="3611880"/>
            <a:ext cx="274320" cy="32004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own Arrow 20"/>
          <p:cNvSpPr/>
          <p:nvPr/>
        </p:nvSpPr>
        <p:spPr>
          <a:xfrm>
            <a:off x="9006840" y="3611880"/>
            <a:ext cx="274320" cy="320040"/>
          </a:xfrm>
          <a:prstGeom prst="down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</a:defRPr>
            </a:pPr>
            <a:r>
              <a:t>一键启动：bash scripts/run_demo.sh    |    查看画面：rqt_image_view /camera/annotated    |    分析报告：python vision/summarize_results.py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69280"/>
            <a:ext cx="1645920" cy="502920"/>
          </a:xfrm>
          <a:prstGeom prst="roundRect">
            <a:avLst/>
          </a:prstGeom>
          <a:solidFill>
            <a:srgbClr val="151A25"/>
          </a:solidFill>
          <a:ln w="12700">
            <a:solidFill>
              <a:srgbClr val="15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00C853"/>
                </a:solidFill>
              </a:defRPr>
            </a:pPr>
            <a:r>
              <a:t>5 类检测目标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5669280"/>
            <a:ext cx="1645920" cy="502920"/>
          </a:xfrm>
          <a:prstGeom prst="roundRect">
            <a:avLst/>
          </a:prstGeom>
          <a:solidFill>
            <a:srgbClr val="151A25"/>
          </a:solidFill>
          <a:ln w="12700">
            <a:solidFill>
              <a:srgbClr val="15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00CCFF"/>
                </a:solidFill>
              </a:defRPr>
            </a:pPr>
            <a:r>
              <a:t>~5 FPS 实时推理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5669280"/>
            <a:ext cx="2011680" cy="502920"/>
          </a:xfrm>
          <a:prstGeom prst="roundRect">
            <a:avLst/>
          </a:prstGeom>
          <a:solidFill>
            <a:srgbClr val="151A25"/>
          </a:solidFill>
          <a:ln w="12700">
            <a:solidFill>
              <a:srgbClr val="15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FF8C00"/>
                </a:solidFill>
              </a:defRPr>
            </a:pPr>
            <a:r>
              <a:t>P50 &lt; 50ms 延迟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5669280"/>
            <a:ext cx="2011680" cy="502920"/>
          </a:xfrm>
          <a:prstGeom prst="roundRect">
            <a:avLst/>
          </a:prstGeom>
          <a:solidFill>
            <a:srgbClr val="151A25"/>
          </a:solidFill>
          <a:ln w="12700">
            <a:solidFill>
              <a:srgbClr val="15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100" b="0">
                <a:solidFill>
                  <a:srgbClr val="00C853"/>
                </a:solidFill>
              </a:defRPr>
            </a:pPr>
            <a:r>
              <a:t>RAM &lt; 4GB 稳定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06  实验结果与分析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848804"/>
              </p:ext>
            </p:extLst>
          </p:nvPr>
        </p:nvGraphicFramePr>
        <p:xfrm>
          <a:off x="457200" y="137160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检测类别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 类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car / truck / person / cone / boat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推理模型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yolov8n.pt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Nano 版本，模型大小 6.2 MB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推理帧率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~5 FPS (CPU)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经 throttle 限制，解除后可提升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推理延迟</a:t>
                      </a:r>
                      <a:r>
                        <a:rPr dirty="0"/>
                        <a:t> P95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&lt; 150 ms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受系统负载波动影响</a:t>
                      </a:r>
                      <a:endParaRPr dirty="0"/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置信度阈值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平衡召回率 (Recall) 与精确度 (Precision)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系统</a:t>
                      </a:r>
                      <a:r>
                        <a:rPr dirty="0"/>
                        <a:t> RAM </a:t>
                      </a:r>
                      <a:r>
                        <a:rPr dirty="0" err="1"/>
                        <a:t>占用</a:t>
                      </a:r>
                      <a:endParaRPr dirty="0"/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&lt; 4 GB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有界缓冲优化后持续稳定，无泄漏</a:t>
                      </a:r>
                      <a:endParaRPr dirty="0"/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GPU </a:t>
                      </a:r>
                      <a:r>
                        <a:rPr dirty="0" err="1"/>
                        <a:t>加速</a:t>
                      </a:r>
                      <a:r>
                        <a:rPr dirty="0"/>
                        <a:t> 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30+ FPS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CUDA </a:t>
                      </a:r>
                      <a:r>
                        <a:rPr dirty="0" err="1"/>
                        <a:t>推理模式下性能大幅提升</a:t>
                      </a:r>
                      <a:endParaRPr dirty="0"/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653503"/>
            <a:ext cx="106984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</a:defRPr>
            </a:pPr>
            <a:r>
              <a:rPr dirty="0" err="1"/>
              <a:t>仿真环境验证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</a:defRPr>
            </a:pPr>
            <a:r>
              <a:rPr dirty="0"/>
              <a:t>• 6 车 8 </a:t>
            </a:r>
            <a:r>
              <a:rPr dirty="0" err="1"/>
              <a:t>人模型全部正确加载，QGroundControl</a:t>
            </a:r>
            <a:r>
              <a:rPr dirty="0"/>
              <a:t> </a:t>
            </a:r>
            <a:r>
              <a:rPr dirty="0" err="1"/>
              <a:t>连接正常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</a:defRPr>
            </a:pPr>
            <a:r>
              <a:rPr dirty="0"/>
              <a:t>• </a:t>
            </a:r>
            <a:r>
              <a:rPr dirty="0" err="1"/>
              <a:t>车辆巡逻动画运行流畅，set_pose</a:t>
            </a:r>
            <a:r>
              <a:rPr dirty="0"/>
              <a:t> </a:t>
            </a:r>
            <a:r>
              <a:rPr dirty="0" err="1"/>
              <a:t>响应</a:t>
            </a:r>
            <a:r>
              <a:rPr dirty="0"/>
              <a:t> &lt; 10ms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</a:defRPr>
            </a:pPr>
            <a:r>
              <a:rPr dirty="0"/>
              <a:t>• </a:t>
            </a:r>
            <a:r>
              <a:rPr dirty="0" err="1"/>
              <a:t>相机图像</a:t>
            </a:r>
            <a:r>
              <a:rPr dirty="0"/>
              <a:t> </a:t>
            </a:r>
            <a:r>
              <a:rPr dirty="0" err="1"/>
              <a:t>ros_gz_bridge</a:t>
            </a:r>
            <a:r>
              <a:rPr dirty="0"/>
              <a:t> </a:t>
            </a:r>
            <a:r>
              <a:rPr dirty="0" err="1"/>
              <a:t>桥接成功，帧率稳定</a:t>
            </a:r>
            <a:r>
              <a:rPr dirty="0"/>
              <a:t> 10 Hz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8 / 13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2BC608F-2AB8-743B-C26F-DF264C26BF38}"/>
              </a:ext>
            </a:extLst>
          </p:cNvPr>
          <p:cNvSpPr txBox="1"/>
          <p:nvPr/>
        </p:nvSpPr>
        <p:spPr>
          <a:xfrm>
            <a:off x="6355080" y="4653503"/>
            <a:ext cx="106984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</a:defRPr>
            </a:pPr>
            <a:r>
              <a:rPr lang="zh-CN" altLang="en-US" dirty="0"/>
              <a:t>检测效果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</a:defRPr>
            </a:pPr>
            <a:r>
              <a:rPr lang="en-US" altLang="zh-CN" dirty="0"/>
              <a:t>• </a:t>
            </a:r>
            <a:r>
              <a:rPr lang="zh-CN" altLang="en-US" dirty="0"/>
              <a:t>车辆 </a:t>
            </a:r>
            <a:r>
              <a:rPr lang="en-US" altLang="zh-CN" dirty="0"/>
              <a:t>/ </a:t>
            </a:r>
            <a:r>
              <a:rPr lang="zh-CN" altLang="en-US" dirty="0"/>
              <a:t>行人能在俯视角下稳定检出，置信度 </a:t>
            </a:r>
            <a:r>
              <a:rPr lang="en-US" altLang="zh-CN" dirty="0"/>
              <a:t>&gt; 0.5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</a:defRPr>
            </a:pPr>
            <a:r>
              <a:rPr lang="en-US" altLang="zh-CN" dirty="0"/>
              <a:t>• </a:t>
            </a:r>
            <a:r>
              <a:rPr lang="zh-CN" altLang="en-US" dirty="0"/>
              <a:t>小目标 </a:t>
            </a:r>
            <a:r>
              <a:rPr lang="en-US" altLang="zh-CN" dirty="0"/>
              <a:t>(&lt; 30×30 </a:t>
            </a:r>
            <a:r>
              <a:rPr lang="en-US" altLang="zh-CN" dirty="0" err="1"/>
              <a:t>px</a:t>
            </a:r>
            <a:r>
              <a:rPr lang="en-US" altLang="zh-CN" dirty="0"/>
              <a:t>) </a:t>
            </a:r>
            <a:r>
              <a:rPr lang="zh-CN" altLang="en-US" dirty="0"/>
              <a:t>存在漏检，需微调训练提升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</a:defRPr>
            </a:pPr>
            <a:r>
              <a:rPr lang="en-US" altLang="zh-CN" dirty="0"/>
              <a:t>• HUD </a:t>
            </a:r>
            <a:r>
              <a:rPr lang="zh-CN" altLang="en-US" dirty="0"/>
              <a:t>标注画面实时渲染流畅，性能指标滚动更新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07  关键问题与解决方案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根因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系统卡死</a:t>
                      </a:r>
                    </a:p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(RAM 线性增长)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相机源头帧率高，后段消费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速率 &lt; 前段生产速率，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无界缓冲导致内存泄漏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① ROS 2 image_throttle (只保留最新帧)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② 自定义相机 640×360 @ 10 Hz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③ 内存阈值守护自动停止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车辆 set_pose</a:t>
                      </a:r>
                    </a:p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无响应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模型 &lt;static&gt;true&lt;/static&gt;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物理引擎跳过位置计算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去掉 static 标签，仅行人保留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set_pose 格式</a:t>
                      </a:r>
                    </a:p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错误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嵌套 pose:{} 包装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不符合 gz.msgs.Pose 协议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改为扁平格式：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name, position{}, orientation{}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坐标偏差大</a:t>
                      </a:r>
                    </a:p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找不到路面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baylands 中心在 (205,155)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非原点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实测扫描确认坐标系：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NS 路段 x≈0, EW 路段 y≈76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仿真 CPU 负载</a:t>
                      </a:r>
                    </a:p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过高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14 个动态模型 @ 250Hz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物理更新率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降低物理更新率至 100 Hz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负载降至可接受范围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朝向读取失败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Gazebo Harmonic 弃用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旧版命令与话题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从 /pose/info 读四元数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atan2(2*qw*qz, 1-2*qz²)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YOLO import</a:t>
                      </a:r>
                    </a:p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失败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虚拟机无 GPU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ultralytics 版本不一致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try/except 降级处理</a:t>
                      </a:r>
                    </a:p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CPU 模式运行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08  项目代码架构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7139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BBBBBB"/>
                </a:solidFill>
              </a:defRPr>
            </a:pPr>
            <a:r>
              <a:rPr dirty="0" err="1"/>
              <a:t>核心模块一览</a:t>
            </a:r>
            <a:r>
              <a:rPr dirty="0"/>
              <a:t> — </a:t>
            </a:r>
            <a:r>
              <a:rPr dirty="0" err="1"/>
              <a:t>总计</a:t>
            </a:r>
            <a:r>
              <a:rPr dirty="0"/>
              <a:t> 75 </a:t>
            </a:r>
            <a:r>
              <a:rPr dirty="0" err="1"/>
              <a:t>个文件，覆盖仿真、感知、训练、部署全链路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65760" y="1504827"/>
            <a:ext cx="11430000" cy="5353173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5179" y="1504827"/>
            <a:ext cx="237116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Consolas"/>
              </a:defRPr>
            </a:pPr>
            <a:r>
              <a:rPr sz="2400" b="1" dirty="0"/>
              <a:t>  </a:t>
            </a:r>
            <a:r>
              <a:rPr sz="2400" b="1" dirty="0" err="1"/>
              <a:t>项目目录结构</a:t>
            </a:r>
            <a:endParaRPr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1696720"/>
            <a:ext cx="110642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2026CV/</a:t>
            </a:r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├── vision/                    # </a:t>
            </a:r>
            <a:r>
              <a:rPr dirty="0" err="1"/>
              <a:t>视觉检测</a:t>
            </a:r>
            <a:r>
              <a:rPr dirty="0"/>
              <a:t> &amp; </a:t>
            </a:r>
            <a:r>
              <a:rPr dirty="0" err="1"/>
              <a:t>训练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train_sim.py           #   YOLOv8 </a:t>
            </a:r>
            <a:r>
              <a:rPr dirty="0" err="1"/>
              <a:t>微调入口</a:t>
            </a:r>
            <a:r>
              <a:rPr dirty="0"/>
              <a:t> (Win/GPU)</a:t>
            </a:r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run_detection.py       #   </a:t>
            </a:r>
            <a:r>
              <a:rPr dirty="0" err="1"/>
              <a:t>离线推理入口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summarize_results.py   #   JSONL → Markdown </a:t>
            </a:r>
            <a:r>
              <a:rPr dirty="0" err="1"/>
              <a:t>报告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setup_train_env.ps1    #   Windows </a:t>
            </a:r>
            <a:r>
              <a:rPr dirty="0" err="1"/>
              <a:t>训练</a:t>
            </a:r>
            <a:r>
              <a:rPr dirty="0"/>
              <a:t> </a:t>
            </a:r>
            <a:r>
              <a:rPr dirty="0" err="1"/>
              <a:t>venv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└── setup_infer_env.sh     #   Linux </a:t>
            </a:r>
            <a:r>
              <a:rPr dirty="0" err="1"/>
              <a:t>推理</a:t>
            </a:r>
            <a:r>
              <a:rPr dirty="0"/>
              <a:t> </a:t>
            </a:r>
            <a:r>
              <a:rPr dirty="0" err="1"/>
              <a:t>venv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├── sim/                       # </a:t>
            </a:r>
            <a:r>
              <a:rPr dirty="0" err="1"/>
              <a:t>仿真场景</a:t>
            </a:r>
            <a:r>
              <a:rPr dirty="0"/>
              <a:t> &amp; </a:t>
            </a:r>
            <a:r>
              <a:rPr dirty="0" err="1"/>
              <a:t>目标管理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configs/</a:t>
            </a:r>
            <a:r>
              <a:rPr dirty="0" err="1"/>
              <a:t>target_models.yaml</a:t>
            </a:r>
            <a:r>
              <a:rPr dirty="0"/>
              <a:t>  # 5 </a:t>
            </a:r>
            <a:r>
              <a:rPr dirty="0" err="1"/>
              <a:t>类目标定义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launch/spawn_targets.py     # </a:t>
            </a:r>
            <a:r>
              <a:rPr dirty="0" err="1"/>
              <a:t>随机</a:t>
            </a:r>
            <a:r>
              <a:rPr dirty="0"/>
              <a:t> spawn</a:t>
            </a:r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launch/animate_vehicles.py  # </a:t>
            </a:r>
            <a:r>
              <a:rPr dirty="0" err="1"/>
              <a:t>车辆巡逻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└── missions/random_waypoints.py # </a:t>
            </a:r>
            <a:r>
              <a:rPr dirty="0" err="1"/>
              <a:t>巡飞航点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├── ros2_ws/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low_altitude_bringup</a:t>
            </a:r>
            <a:r>
              <a:rPr dirty="0"/>
              <a:t>/  # ROS 2 </a:t>
            </a:r>
            <a:r>
              <a:rPr dirty="0" err="1"/>
              <a:t>感知包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yolo_detector.py       #   </a:t>
            </a:r>
            <a:r>
              <a:rPr dirty="0" err="1"/>
              <a:t>核心检测节点</a:t>
            </a:r>
            <a:r>
              <a:rPr dirty="0"/>
              <a:t> ★</a:t>
            </a:r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metrics.py             #   </a:t>
            </a:r>
            <a:r>
              <a:rPr dirty="0" err="1"/>
              <a:t>滚动性能指标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hud.py                 #   HUD </a:t>
            </a:r>
            <a:r>
              <a:rPr dirty="0" err="1"/>
              <a:t>标注渲染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dataset_collector.py   #   </a:t>
            </a:r>
            <a:r>
              <a:rPr dirty="0" err="1"/>
              <a:t>数据集采集器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image_throttle.py      #   </a:t>
            </a:r>
            <a:r>
              <a:rPr dirty="0" err="1"/>
              <a:t>有界缓冲节流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└── launch/perception_yolo.launch.py  # </a:t>
            </a:r>
            <a:r>
              <a:rPr dirty="0" err="1"/>
              <a:t>一键启动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├── scripts/                   # </a:t>
            </a:r>
            <a:r>
              <a:rPr dirty="0" err="1"/>
              <a:t>运维脚本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run_demo.sh            #   </a:t>
            </a:r>
            <a:r>
              <a:rPr dirty="0" err="1"/>
              <a:t>一键演示启动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├── launch_all.sh          #   </a:t>
            </a:r>
            <a:r>
              <a:rPr dirty="0" err="1"/>
              <a:t>全链路启动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│   └── view_annotated.sh      #   </a:t>
            </a:r>
            <a:r>
              <a:rPr dirty="0" err="1"/>
              <a:t>查看标注画面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└── docs/                      # </a:t>
            </a:r>
            <a:r>
              <a:rPr dirty="0" err="1"/>
              <a:t>技术文档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    ├── ROS2_RUNBOOK.md        #   ROS 2 </a:t>
            </a:r>
            <a:r>
              <a:rPr dirty="0" err="1"/>
              <a:t>运行手册</a:t>
            </a:r>
            <a:endParaRPr dirty="0"/>
          </a:p>
          <a:p>
            <a:pPr>
              <a:lnSpc>
                <a:spcPts val="1417"/>
              </a:lnSpc>
              <a:spcAft>
                <a:spcPts val="100"/>
              </a:spcAft>
              <a:defRPr sz="1050">
                <a:solidFill>
                  <a:srgbClr val="CCCCDD"/>
                </a:solidFill>
                <a:latin typeface="Consolas"/>
              </a:defRPr>
            </a:pPr>
            <a:r>
              <a:rPr dirty="0"/>
              <a:t>    └── SIM_TRAINING_PIPELINE.md # </a:t>
            </a:r>
            <a:r>
              <a:rPr dirty="0" err="1"/>
              <a:t>训练流水线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09  关键配置与算法细节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6240" y="1085480"/>
            <a:ext cx="5029200" cy="5589639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2296" y="1124141"/>
            <a:ext cx="49680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Consolas"/>
              </a:defRPr>
            </a:pPr>
            <a:r>
              <a:rPr sz="2000" b="1" dirty="0"/>
              <a:t>  </a:t>
            </a:r>
            <a:r>
              <a:rPr sz="2000" b="1" dirty="0" err="1"/>
              <a:t>target_models.yaml</a:t>
            </a:r>
            <a:r>
              <a:rPr sz="2000" b="1" dirty="0"/>
              <a:t> — </a:t>
            </a:r>
            <a:r>
              <a:rPr sz="2000" b="1" dirty="0" err="1"/>
              <a:t>目标类别定义</a:t>
            </a:r>
            <a:endParaRPr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79120" y="1502076"/>
            <a:ext cx="4663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sim/configs/</a:t>
            </a:r>
            <a:r>
              <a:rPr dirty="0" err="1"/>
              <a:t>target_models.yaml</a:t>
            </a: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classes: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- id: 0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name: "car"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fuel_uri</a:t>
            </a:r>
            <a:r>
              <a:rPr dirty="0"/>
              <a:t>: "https://fuel.gazebosim.org/.../Car"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aabb_size</a:t>
            </a:r>
            <a:r>
              <a:rPr dirty="0"/>
              <a:t>: [4.5, 2.0, 1.8]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- id: 1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name: "truck"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fuel_uri</a:t>
            </a:r>
            <a:r>
              <a:rPr dirty="0"/>
              <a:t>: "https://fuel.gazebosim.org/.../Truck"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aabb_size</a:t>
            </a:r>
            <a:r>
              <a:rPr dirty="0"/>
              <a:t>: [7.0, 2.5, 3.0]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- id: 2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name: "person"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fuel_uri</a:t>
            </a:r>
            <a:r>
              <a:rPr dirty="0"/>
              <a:t>: "https://fuel.gazebosim.org/.../Actor"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aabb_size</a:t>
            </a:r>
            <a:r>
              <a:rPr dirty="0"/>
              <a:t>: [0.6, 0.6, 1.8]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population: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min_total</a:t>
            </a:r>
            <a:r>
              <a:rPr dirty="0"/>
              <a:t>: 8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max_total</a:t>
            </a:r>
            <a:r>
              <a:rPr dirty="0"/>
              <a:t>: 15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class_weights</a:t>
            </a:r>
            <a:r>
              <a:rPr dirty="0"/>
              <a:t>: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car: 0.30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truck: 0.15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person: 0.35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cone: 0.10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boat: 0.10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 err="1"/>
              <a:t>spawn_area</a:t>
            </a:r>
            <a:r>
              <a:rPr dirty="0"/>
              <a:t>: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x_range</a:t>
            </a:r>
            <a:r>
              <a:rPr dirty="0"/>
              <a:t>: [-80, 20]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y_range</a:t>
            </a:r>
            <a:r>
              <a:rPr dirty="0"/>
              <a:t>: [-60, 80]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water_z</a:t>
            </a:r>
            <a:r>
              <a:rPr dirty="0"/>
              <a:t>: 0.5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097279"/>
            <a:ext cx="5943600" cy="5577839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8131" y="1158585"/>
            <a:ext cx="46858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BBBBB"/>
                </a:solidFill>
                <a:latin typeface="Consolas"/>
              </a:defRPr>
            </a:pPr>
            <a:r>
              <a:rPr sz="2000" b="1" dirty="0"/>
              <a:t>  spawn_targets.py — </a:t>
            </a:r>
            <a:r>
              <a:rPr sz="2000" b="1" dirty="0" err="1"/>
              <a:t>随机目标生成</a:t>
            </a:r>
            <a:endParaRPr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309360" y="1572314"/>
            <a:ext cx="5577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sim/launch/spawn_targets.py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def _</a:t>
            </a:r>
            <a:r>
              <a:rPr dirty="0" err="1"/>
              <a:t>pick_population</a:t>
            </a:r>
            <a:r>
              <a:rPr dirty="0"/>
              <a:t>(</a:t>
            </a:r>
            <a:r>
              <a:rPr dirty="0" err="1"/>
              <a:t>rng</a:t>
            </a:r>
            <a:r>
              <a:rPr dirty="0"/>
              <a:t>, </a:t>
            </a:r>
            <a:r>
              <a:rPr dirty="0" err="1"/>
              <a:t>cfg</a:t>
            </a:r>
            <a:r>
              <a:rPr dirty="0"/>
              <a:t>):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"""</a:t>
            </a:r>
            <a:r>
              <a:rPr dirty="0" err="1"/>
              <a:t>按权重随机采样目标种群</a:t>
            </a:r>
            <a:r>
              <a:rPr dirty="0"/>
              <a:t>"""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total = </a:t>
            </a:r>
            <a:r>
              <a:rPr dirty="0" err="1"/>
              <a:t>rng.randint</a:t>
            </a:r>
            <a:r>
              <a:rPr dirty="0"/>
              <a:t>(pop['</a:t>
            </a:r>
            <a:r>
              <a:rPr dirty="0" err="1"/>
              <a:t>min_total</a:t>
            </a:r>
            <a:r>
              <a:rPr dirty="0"/>
              <a:t>'],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            pop['</a:t>
            </a:r>
            <a:r>
              <a:rPr dirty="0" err="1"/>
              <a:t>max_total</a:t>
            </a:r>
            <a:r>
              <a:rPr dirty="0"/>
              <a:t>'])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for _ in range(total):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name = </a:t>
            </a:r>
            <a:r>
              <a:rPr dirty="0" err="1"/>
              <a:t>rng.choices</a:t>
            </a:r>
            <a:r>
              <a:rPr dirty="0"/>
              <a:t>(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weighted_names</a:t>
            </a:r>
            <a:r>
              <a:rPr dirty="0"/>
              <a:t>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 weights=</a:t>
            </a:r>
            <a:r>
              <a:rPr dirty="0" err="1"/>
              <a:t>weighted_values</a:t>
            </a:r>
            <a:r>
              <a:rPr dirty="0"/>
              <a:t>, k=1)[0]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def _</a:t>
            </a:r>
            <a:r>
              <a:rPr dirty="0" err="1"/>
              <a:t>spawn_one</a:t>
            </a:r>
            <a:r>
              <a:rPr dirty="0"/>
              <a:t>(target, world, index):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"""</a:t>
            </a:r>
            <a:r>
              <a:rPr dirty="0" err="1"/>
              <a:t>通过</a:t>
            </a:r>
            <a:r>
              <a:rPr dirty="0"/>
              <a:t> </a:t>
            </a:r>
            <a:r>
              <a:rPr dirty="0" err="1"/>
              <a:t>gz</a:t>
            </a:r>
            <a:r>
              <a:rPr dirty="0"/>
              <a:t> service </a:t>
            </a:r>
            <a:r>
              <a:rPr dirty="0" err="1"/>
              <a:t>创建单个模型</a:t>
            </a:r>
            <a:r>
              <a:rPr dirty="0"/>
              <a:t>"""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cmd</a:t>
            </a:r>
            <a:r>
              <a:rPr dirty="0"/>
              <a:t> = ["</a:t>
            </a:r>
            <a:r>
              <a:rPr dirty="0" err="1"/>
              <a:t>gz</a:t>
            </a:r>
            <a:r>
              <a:rPr dirty="0"/>
              <a:t>", "service", "-s",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f"/world/{world}/create",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"--</a:t>
            </a:r>
            <a:r>
              <a:rPr dirty="0" err="1"/>
              <a:t>reqtype</a:t>
            </a:r>
            <a:r>
              <a:rPr dirty="0"/>
              <a:t>", "</a:t>
            </a:r>
            <a:r>
              <a:rPr dirty="0" err="1"/>
              <a:t>gz.msgs.EntityFactory</a:t>
            </a:r>
            <a:r>
              <a:rPr dirty="0"/>
              <a:t>",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"--</a:t>
            </a:r>
            <a:r>
              <a:rPr dirty="0" err="1"/>
              <a:t>reptype</a:t>
            </a:r>
            <a:r>
              <a:rPr dirty="0"/>
              <a:t>", "</a:t>
            </a:r>
            <a:r>
              <a:rPr dirty="0" err="1"/>
              <a:t>gz.msgs.Boolean</a:t>
            </a:r>
            <a:r>
              <a:rPr dirty="0"/>
              <a:t>",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"--timeout", "5000",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       "--req", </a:t>
            </a:r>
            <a:r>
              <a:rPr dirty="0" err="1"/>
              <a:t>json.dumps</a:t>
            </a:r>
            <a:r>
              <a:rPr dirty="0"/>
              <a:t>(payload)]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写入</a:t>
            </a:r>
            <a:r>
              <a:rPr dirty="0"/>
              <a:t> </a:t>
            </a:r>
            <a:r>
              <a:rPr dirty="0" err="1"/>
              <a:t>manifest.json</a:t>
            </a:r>
            <a:r>
              <a:rPr dirty="0"/>
              <a:t> 供 collector </a:t>
            </a:r>
            <a:r>
              <a:rPr dirty="0" err="1"/>
              <a:t>读取</a:t>
            </a:r>
            <a:endParaRPr dirty="0"/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record = </a:t>
            </a:r>
            <a:r>
              <a:rPr dirty="0" err="1"/>
              <a:t>SpawnedTarget</a:t>
            </a:r>
            <a:r>
              <a:rPr dirty="0"/>
              <a:t>(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name=</a:t>
            </a:r>
            <a:r>
              <a:rPr dirty="0" err="1"/>
              <a:t>model_name</a:t>
            </a:r>
            <a:r>
              <a:rPr dirty="0"/>
              <a:t>, </a:t>
            </a:r>
            <a:r>
              <a:rPr dirty="0" err="1"/>
              <a:t>class_id</a:t>
            </a:r>
            <a:r>
              <a:rPr dirty="0"/>
              <a:t>=...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pose_xyz</a:t>
            </a:r>
            <a:r>
              <a:rPr dirty="0"/>
              <a:t>=(x, y, z), yaw=...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aabb_size</a:t>
            </a:r>
            <a:r>
              <a:rPr dirty="0"/>
              <a:t>=target['</a:t>
            </a:r>
            <a:r>
              <a:rPr dirty="0" err="1"/>
              <a:t>aabb_size</a:t>
            </a:r>
            <a:r>
              <a:rPr dirty="0"/>
              <a:t>'],</a:t>
            </a:r>
          </a:p>
          <a:p>
            <a:pPr>
              <a:lnSpc>
                <a:spcPts val="1282"/>
              </a:lnSpc>
              <a:spcAft>
                <a:spcPts val="100"/>
              </a:spcAft>
              <a:defRPr sz="950">
                <a:solidFill>
                  <a:srgbClr val="CCCCDD"/>
                </a:solidFill>
                <a:latin typeface="Consolas"/>
              </a:defRPr>
            </a:pPr>
            <a:r>
              <a:rPr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10  组员分工与贡献说明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0CCFF"/>
                </a:solidFill>
              </a:defRPr>
            </a:pPr>
            <a:r>
              <a:t>李彦博 | 1231002006 | 单人组，独立完成全部工作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468880"/>
          <a:ext cx="11247120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任务模块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具体工作内容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完成度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环境搭建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Ubuntu 24.04 + PX4 SITL v1.16.0 + Gazebo Harmonic + ROS 2 Jazzy + QGC 全栈集成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仿真场景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baylands_2026cv 自定义世界（6 车 8 行人 SDF）、车辆自动巡逻动画、随机目标 spawn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算法模块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YOLOv8 模型选型部署、ROS 2 yolo_detector 节点开发、推理流水线设计、PerceptionMetrics 性能指标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系统集成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ros_gz_bridge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桥接、image_throttle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节流、launch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文件编写、一键启动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停止脚本</a:t>
                      </a:r>
                      <a:endParaRPr dirty="0"/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稳定性优化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系统卡死根因分析（RAM 线性增长）、链路有界化、自定义相机分辨率帧率、内存阈值守护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训练流水线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Windows/Linux 双端 venv 配置、YOLOv8 微调脚本、训练→部署交接流程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1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文档撰写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项目进展报告、ROS2 Runbook、训练流水线文档、大作业 Word + PPT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100%</a:t>
                      </a:r>
                    </a:p>
                  </a:txBody>
                  <a:tcPr>
                    <a:solidFill>
                      <a:srgbClr val="151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11  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 err="1"/>
              <a:t>项目总结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成功搭建「PX4 SITL + Gazebo Harmonic + ROS 2 + YOLOv8」低空目标识别仿真验证平台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实现从仿真场景、数据采集、模型推理到结果可视化的端到端流水线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解决了系统卡死、坐标偏差、朝向读取等</a:t>
            </a:r>
            <a:r>
              <a:rPr dirty="0"/>
              <a:t> </a:t>
            </a:r>
            <a:r>
              <a:rPr dirty="0" err="1"/>
              <a:t>工程难题，形成可复现方案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 err="1"/>
              <a:t>未来展望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微调训练：用仿真采集数据</a:t>
            </a:r>
            <a:r>
              <a:rPr dirty="0"/>
              <a:t> fine-tune YOLOv8，提升无人机俯视角检测精度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目标跟踪：接入</a:t>
            </a:r>
            <a:r>
              <a:rPr dirty="0"/>
              <a:t> </a:t>
            </a:r>
            <a:r>
              <a:rPr dirty="0" err="1"/>
              <a:t>ByteTrack，实现多目标持续跟踪与</a:t>
            </a:r>
            <a:r>
              <a:rPr dirty="0"/>
              <a:t> ID </a:t>
            </a:r>
            <a:r>
              <a:rPr dirty="0" err="1"/>
              <a:t>保持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闭环控制：将检测结果反馈</a:t>
            </a:r>
            <a:r>
              <a:rPr dirty="0"/>
              <a:t> PX4 </a:t>
            </a:r>
            <a:r>
              <a:rPr dirty="0" err="1"/>
              <a:t>飞控，实现跟随</a:t>
            </a:r>
            <a:r>
              <a:rPr dirty="0"/>
              <a:t> / </a:t>
            </a:r>
            <a:r>
              <a:rPr dirty="0" err="1"/>
              <a:t>环绕等智能飞行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域适应：探索</a:t>
            </a:r>
            <a:r>
              <a:rPr dirty="0"/>
              <a:t> Sim-to-Real </a:t>
            </a:r>
            <a:r>
              <a:rPr dirty="0" err="1"/>
              <a:t>迁移，缩小仿真与真实场景差距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实机验证：在真实无人机平台上复现检测效果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2011680" cy="731520"/>
          </a:xfrm>
          <a:prstGeom prst="roundRect">
            <a:avLst/>
          </a:prstGeom>
          <a:solidFill>
            <a:srgbClr val="151A25"/>
          </a:solidFill>
          <a:ln w="12700">
            <a:solidFill>
              <a:srgbClr val="15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047488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00CCFF"/>
                </a:solidFill>
              </a:defRPr>
            </a:pPr>
            <a:r>
              <a:t>5 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68112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检测目标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029200"/>
            <a:ext cx="2011680" cy="731520"/>
          </a:xfrm>
          <a:prstGeom prst="roundRect">
            <a:avLst/>
          </a:prstGeom>
          <a:solidFill>
            <a:srgbClr val="151A25"/>
          </a:solidFill>
          <a:ln w="12700">
            <a:solidFill>
              <a:srgbClr val="15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79" y="5047488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00CCFF"/>
                </a:solidFill>
              </a:defRPr>
            </a:pPr>
            <a:r>
              <a:t>75 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5468112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代码文件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5029200"/>
            <a:ext cx="2011680" cy="731520"/>
          </a:xfrm>
          <a:prstGeom prst="roundRect">
            <a:avLst/>
          </a:prstGeom>
          <a:solidFill>
            <a:srgbClr val="151A25"/>
          </a:solidFill>
          <a:ln w="12700">
            <a:solidFill>
              <a:srgbClr val="15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5047488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00CCFF"/>
                </a:solidFill>
              </a:defRPr>
            </a:pPr>
            <a:r>
              <a:t>7 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5468112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工程难题攻克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5029200"/>
            <a:ext cx="2011680" cy="731520"/>
          </a:xfrm>
          <a:prstGeom prst="roundRect">
            <a:avLst/>
          </a:prstGeom>
          <a:solidFill>
            <a:srgbClr val="151A25"/>
          </a:solidFill>
          <a:ln w="12700">
            <a:solidFill>
              <a:srgbClr val="15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80" y="5047488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00CCFF"/>
                </a:solidFill>
              </a:defRPr>
            </a:pPr>
            <a:r>
              <a:rPr dirty="0"/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5468112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rPr dirty="0" err="1"/>
              <a:t>模块完成度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875520" y="5029200"/>
            <a:ext cx="2011680" cy="731520"/>
          </a:xfrm>
          <a:prstGeom prst="roundRect">
            <a:avLst/>
          </a:prstGeom>
          <a:solidFill>
            <a:srgbClr val="151A25"/>
          </a:solidFill>
          <a:ln w="12700">
            <a:solidFill>
              <a:srgbClr val="15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12680" y="5047488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00CCFF"/>
                </a:solidFill>
              </a:defRPr>
            </a:pPr>
            <a:r>
              <a:t>&lt; 50ms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5468112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推理延迟 P50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BBBBBB"/>
                </a:solidFill>
              </a:defRPr>
            </a:pPr>
            <a:r>
              <a:t>致谢：感谢老师的指导与建议！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2079</Words>
  <Application>Microsoft Office PowerPoint</Application>
  <PresentationFormat>宽屏</PresentationFormat>
  <Paragraphs>385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 LI</cp:lastModifiedBy>
  <cp:revision>2</cp:revision>
  <dcterms:created xsi:type="dcterms:W3CDTF">2013-01-27T09:14:16Z</dcterms:created>
  <dcterms:modified xsi:type="dcterms:W3CDTF">2026-06-29T15:10:42Z</dcterms:modified>
  <cp:category/>
</cp:coreProperties>
</file>